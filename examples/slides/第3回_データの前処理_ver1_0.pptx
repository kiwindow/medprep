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5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84080" y="-457200"/>
            <a:ext cx="3657600" cy="3657600"/>
          </a:xfrm>
          <a:prstGeom prst="ellipse">
            <a:avLst/>
          </a:prstGeom>
          <a:solidFill>
            <a:srgbClr val="123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365760"/>
            <a:ext cx="2011680" cy="2011680"/>
          </a:xfrm>
          <a:prstGeom prst="ellipse">
            <a:avLst/>
          </a:prstGeom>
          <a:solidFill>
            <a:srgbClr val="22A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01400" y="1024128"/>
            <a:ext cx="1097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3400">
                <a:solidFill>
                  <a:srgbClr val="05203A"/>
                </a:solidFill>
                <a:latin typeface="Consolas"/>
                <a:ea typeface="Consolas"/>
                <a:cs typeface="Consolas"/>
              </a:rPr>
              <a:t>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600">
                <a:solidFill>
                  <a:srgbClr val="1E90D8"/>
                </a:solidFill>
                <a:latin typeface="Yu Gothic"/>
                <a:ea typeface="Yu Gothic"/>
                <a:cs typeface="Yu Gothic"/>
              </a:rPr>
              <a:t>日本腎・血液浄化AI学会  演習講座「鹿鳴館」  第1期 第3回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87782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b="1" sz="4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データの前処理</a:t>
            </a:r>
          </a:p>
          <a:p>
            <a:pPr algn="l">
              <a:lnSpc>
                <a:spcPct val="118000"/>
              </a:lnSpc>
            </a:pPr>
            <a:r>
              <a:rPr b="1" sz="4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―― 解析を始める前の仕事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118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2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医療データ特有の落とし穴を、見つけて・記録に残して・再現する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80560"/>
            <a:ext cx="1312163" cy="457200"/>
          </a:xfrm>
          <a:prstGeom prst="roundRect">
            <a:avLst>
              <a:gd name="adj" fmla="val 6000"/>
            </a:avLst>
          </a:prstGeom>
          <a:solidFill>
            <a:srgbClr val="13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2920" y="4480560"/>
            <a:ext cx="131216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b="1" sz="1400">
                <a:solidFill>
                  <a:srgbClr val="C1E0F7"/>
                </a:solidFill>
                <a:latin typeface="Yu Gothic"/>
                <a:ea typeface="Yu Gothic"/>
                <a:cs typeface="Yu Gothic"/>
              </a:rPr>
              <a:t>medprep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7963" y="4480560"/>
            <a:ext cx="2638044" cy="457200"/>
          </a:xfrm>
          <a:prstGeom prst="roundRect">
            <a:avLst>
              <a:gd name="adj" fmla="val 6000"/>
            </a:avLst>
          </a:prstGeom>
          <a:solidFill>
            <a:srgbClr val="13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97963" y="4480560"/>
            <a:ext cx="263804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b="1" sz="1400">
                <a:solidFill>
                  <a:srgbClr val="C1E0F7"/>
                </a:solidFill>
                <a:latin typeface="Yu Gothic"/>
                <a:ea typeface="Yu Gothic"/>
                <a:cs typeface="Yu Gothic"/>
              </a:rPr>
              <a:t>Colab / Win / Mac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18888" y="4480560"/>
            <a:ext cx="1842516" cy="457200"/>
          </a:xfrm>
          <a:prstGeom prst="roundRect">
            <a:avLst>
              <a:gd name="adj" fmla="val 6000"/>
            </a:avLst>
          </a:prstGeom>
          <a:solidFill>
            <a:srgbClr val="13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18888" y="4480560"/>
            <a:ext cx="18425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b="1" sz="1400">
                <a:solidFill>
                  <a:srgbClr val="C1E0F7"/>
                </a:solidFill>
                <a:latin typeface="Yu Gothic"/>
                <a:ea typeface="Yu Gothic"/>
                <a:cs typeface="Yu Gothic"/>
              </a:rPr>
              <a:t>Python 3.12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44283" y="4480560"/>
            <a:ext cx="781812" cy="457200"/>
          </a:xfrm>
          <a:prstGeom prst="roundRect">
            <a:avLst>
              <a:gd name="adj" fmla="val 6000"/>
            </a:avLst>
          </a:prstGeom>
          <a:solidFill>
            <a:srgbClr val="13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44283" y="4480560"/>
            <a:ext cx="7818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b="1" sz="1400">
                <a:solidFill>
                  <a:srgbClr val="C1E0F7"/>
                </a:solidFill>
                <a:latin typeface="Yu Gothic"/>
                <a:ea typeface="Yu Gothic"/>
                <a:cs typeface="Yu Gothic"/>
              </a:rPr>
              <a:t>3時間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600">
                <a:solidFill>
                  <a:srgbClr val="8CA4CC"/>
                </a:solidFill>
                <a:latin typeface="Yu Gothic"/>
                <a:ea typeface="Yu Gothic"/>
                <a:cs typeface="Yu Gothic"/>
              </a:rPr>
              <a:t>対象：第1回・第2回で環境を作り終えた みなさん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この回のゴール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持ち帰るのは、道具ではなく判断の順序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57600" cy="203708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95528" y="192024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汚れを見つける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2514600"/>
            <a:ext cx="3072384" cy="98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欠損コード・単位混在・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測定法の変更・打切り。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検定でも例外でも捕まらない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ものを見つける手順。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45920"/>
            <a:ext cx="3657600" cy="203708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08576" y="192024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8384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判断を記録に残す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50992" y="2514600"/>
            <a:ext cx="3072384" cy="98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機械の判断には必ず理由が付く。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読んで、納得できなければ直す。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schema.yaml が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再現性の中核</a:t>
            </a: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になる。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1645920"/>
            <a:ext cx="3557016" cy="203708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21624" y="1920240"/>
            <a:ext cx="566928" cy="566928"/>
          </a:xfrm>
          <a:prstGeom prst="ellipse">
            <a:avLst/>
          </a:prstGeom>
          <a:solidFill>
            <a:srgbClr val="1E9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8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1975104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リークを防ぐ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2514600"/>
            <a:ext cx="2971800" cy="98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前処理は train だけで fit する。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気をつける話ではなく、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できない構造</a:t>
            </a: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にする。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48760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195064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全自動とは「決定の自動化」ではなく、</a:t>
            </a: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「決定の明示化」である。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130800"/>
            <a:ext cx="11183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 行で最後まで走る。しかし</a:t>
            </a: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そこで下した判断はすべて外に出る</a:t>
            </a: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「この列は ID とみなした」「この値は欠損コードとみなした」「この症例は除外した」——その理由が残り、人が直して再実行できる。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3 時間の流れ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前半は「見つける」、後半は「渡す」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41732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1645920"/>
            <a:ext cx="11612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645920"/>
            <a:ext cx="832104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048256" y="1645920"/>
            <a:ext cx="80650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645920"/>
            <a:ext cx="1444752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369296" y="1645920"/>
            <a:ext cx="1188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形式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57984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" y="2157984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0:00–0:20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157984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48256" y="2157984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なぜ前処理が仕事の 8 割なのか／医療データ特有の落とし穴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0" y="2157984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369296" y="215798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スライド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78608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936" y="2578608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0:20–0:35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20240" y="2578608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048256" y="2578608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まず全自動で走らせる  mp.autoprep(...) 1 行 → レポートを開く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578608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369296" y="2578608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演習①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99232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0936" y="2999232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0:35–1:00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20240" y="2999232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048256" y="2999232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レポートを読む。schema.yaml で機械の判断を検分する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999232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369296" y="2999232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演習②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419856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" y="3419856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1:00–1:25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20240" y="3419856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048256" y="3419856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欠損と外れ値。消してよい場合と消してはいけない場合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3419856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369296" y="3419856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演習③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840480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DF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0936" y="3840480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1:25–1:35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20240" y="3840480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DF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048256" y="3840480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休憩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41280" y="3840480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DF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369296" y="3840480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261104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" y="4261104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1:35–2:05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20240" y="4261104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048256" y="4261104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Table 1 と群間比較。検定の自動選択、効果量、p 値の罠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41280" y="4261104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369296" y="4261104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演習④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681728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30936" y="4681728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2:05–2:35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20240" y="4681728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048256" y="4681728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生存時間分析。KM → log-rank → Cox → 比例ハザードの確認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4681728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0369296" y="4681728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演習⑤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5102352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0936" y="5102352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2:35–2:50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20240" y="5102352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048256" y="5102352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目的変数を作り、モデルに渡す。リークが起きない理由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241280" y="5102352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369296" y="5102352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演習⑥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2920" y="5522976"/>
            <a:ext cx="141732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30936" y="5522976"/>
            <a:ext cx="11612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2:50–3:00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920240" y="5522976"/>
            <a:ext cx="832104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048256" y="5522976"/>
            <a:ext cx="806500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発展事項（MICE・競合リスク・時系列）と第4回の予告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241280" y="5522976"/>
            <a:ext cx="1444752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0369296" y="5522976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スライド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2920" y="6172200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演習は 1 つのノートブック Preprocessing_Ver1_0.ipynb を上から順に実行するだけ。自分のデータが無い方には、汚れを仕込んだ合成透析コホート（600 例）を用意してある。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なぜ前処理が仕事の 8 割なのか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モデルを替えても、入力が歪んでいれば結論は歪む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184708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統計解析のデータは「きれい」である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514600"/>
            <a:ext cx="485546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論文になった表は、誰かが数週間かけて整えた後の姿である。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整える過程は論文に書かれない。だから学ぶ機会が無い。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210616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7510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診療のデータは「記録」である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514600"/>
            <a:ext cx="4855464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記録は解析のために書かれていない。単位も表記も測定法も、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その時々の都合で変わる。</a:t>
            </a: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それが正しい記録のあり方</a:t>
            </a: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でもある。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813048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3959352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モデルの選択で変わるのは数 % 。</a:t>
            </a: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前処理の誤りで変わるのは結論そのもの。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5087"/>
            <a:ext cx="111831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たとえば ――</a:t>
            </a:r>
          </a:p>
          <a:p>
            <a:pPr algn="l">
              <a:lnSpc>
                <a:spcPct val="134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欠損を 0 で埋めた  → 「検査していない」が「値が 0」になり、平均が下がる</a:t>
            </a:r>
          </a:p>
          <a:p>
            <a:pPr algn="l">
              <a:lnSpc>
                <a:spcPct val="134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&lt;0.1 を捨てた  → 炎症の無い症例だけが落ち、CRP の分布が高い側に寄る</a:t>
            </a:r>
          </a:p>
          <a:p>
            <a:pPr algn="l">
              <a:lnSpc>
                <a:spcPct val="134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測定法の変更を見落とした  → 「2020 年以降 ALP が下がった」という存在しない所見</a:t>
            </a:r>
          </a:p>
          <a:p>
            <a:pPr algn="l">
              <a:lnSpc>
                <a:spcPct val="134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前処理してから分割した  → test の情報が混ざり、性能が実際より良く見える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医療データ特有の落とし穴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どれも例外を出さずに通ってしまう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57600" cy="1553464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欠損コード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514600"/>
            <a:ext cx="307238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999 / 「未測定」 / 「−」。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数値として平均に混ざる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45920"/>
            <a:ext cx="3657600" cy="1553464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08576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単位の混在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1184" y="2514600"/>
            <a:ext cx="307238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Hb を g/dL と g/L で記録。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10 倍の値が同じ列に並ぶ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645920"/>
            <a:ext cx="3657600" cy="1553464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21624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検出限界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4232" y="2514600"/>
            <a:ext cx="307238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&lt;0.1 は数値ではない。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捨てると分布が偏る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91840"/>
            <a:ext cx="3657600" cy="1553464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5528" y="36210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日付の表記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" y="4160520"/>
            <a:ext cx="307238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和暦・全角・Excel シリアル値・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時刻付きが 1 列に混在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291840"/>
            <a:ext cx="3657600" cy="1553464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08576" y="36210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測定法の変更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4" y="4160520"/>
            <a:ext cx="307238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ALP の JSCC→IFCC。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値が 1/3 になるが病態は不変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3291840"/>
            <a:ext cx="3657600" cy="1553464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21624" y="36210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打切りの扱い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4160520"/>
            <a:ext cx="307238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イベント日と打切り日の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両方が入っている症例がある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119624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5265928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これらは「汚い」のではない。</a:t>
            </a: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記録として正しく、解析には向かない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、というだけである。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28512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だから「直す」のではなく、まず「見つけて、どう扱ったかを記録に残す」。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この回の中心にある考え方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全自動は「決定の自動化」ではない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3154680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E03131"/>
                </a:solidFill>
                <a:latin typeface="Yu Gothic"/>
                <a:ea typeface="Yu Gothic"/>
                <a:cs typeface="Yu Gothic"/>
              </a:rPr>
              <a:t>✗  決定の自動化（してはいけない）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欠損を黙って中央値で埋める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外れ値を黙って削除する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「数値でない値」を黙って落とす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何をしたか、結果から復元できない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→ 誰も検分できず、</a:t>
            </a: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誤りに気づけない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315468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✓  決定の明示化（これをする）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判断には必ず理由を付ける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判断を schema.yaml に書き出す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人が直して再実行できる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確認が要る事項を先頭にまとめる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→ </a:t>
            </a:r>
            <a:r>
              <a:rPr b="1" sz="15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人の判断が要る場所が見える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20640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5266944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確認事項が空で返ってきたら、まずそちらを疑うこと。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 医学データで所見ゼロはまず無い。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演習①  0:20–0:35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まず全自動で走らせる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577840" cy="2163699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0664" y="1828800"/>
            <a:ext cx="5102352" cy="1797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rep = mp.autoprep(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df,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group='施設', id_col='仮名ID',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date_col='検体採取日',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survival_dates=SURVIVAL_DATES,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save=True,   # run{N}/ に全出力を保存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85232" cy="227888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93408" y="1975104"/>
            <a:ext cx="50109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返ってくるもの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6016" y="2514600"/>
            <a:ext cx="4700016" cy="1227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rep.X_train / rep.y_train  学習に渡せる行列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rep.pipeline  fit 済みの前処理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rep.schema  列の役割と、その理由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rep.warnings  人の確認が要る事項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rep.html  HTML 1 枚のレポート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1741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出力（段ごとの成否が全部残る）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01464"/>
            <a:ext cx="6766560" cy="1460754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" y="4784344"/>
            <a:ext cx="6291072" cy="10949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・ 列の役割を推定する  20 列（うち外す列 3 本）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・ 品質を監査する    致命的 5 / 要確認 1 件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・ リークを検査する   6 項目すべて OK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・ run に保存する    run1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601464"/>
            <a:ext cx="4233672" cy="1795272"/>
          </a:xfrm>
          <a:prstGeom prst="roundRect">
            <a:avLst>
              <a:gd name="adj" fmla="val 6000"/>
            </a:avLst>
          </a:prstGeom>
          <a:solidFill>
            <a:srgbClr val="DF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44968" y="4930648"/>
            <a:ext cx="3959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BAF7A"/>
                </a:solidFill>
                <a:latin typeface="Yu Gothic"/>
                <a:ea typeface="Yu Gothic"/>
                <a:cs typeface="Yu Gothic"/>
              </a:rPr>
              <a:t>止まるところ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37576" y="5470144"/>
            <a:ext cx="3648456" cy="743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背骨</a:t>
            </a: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（読む・監査・分割・前処理）で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失敗したら止まる。</a:t>
            </a: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付随するもの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（管理目標・生存時間・図）は飛ばす。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レポートは警告から始まる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10 枚目にある致命的所見は、読まれないのと同じ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1183112" cy="2386584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0664" y="1828800"/>
            <a:ext cx="10707624" cy="2020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5 ✗ 致命的 — このまま解析すると誤った結論になる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1 ! 要確認        3 · 記録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まず読むこと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✗ 致命的 測定法  'ALP' は 2020-04-01 の前後で中央値が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       246 → 91（0.37 倍、p=4.2e-33）と段差になっている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       → 期間を共変量に入れるか、期間で層別すること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✗ 致命的 生存時間  イベント日と打ち切り日の両方が入っている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52544"/>
            <a:ext cx="3657600" cy="1795272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5528" y="46817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HTML 1 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5221224"/>
            <a:ext cx="3072384" cy="743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図は埋め込み。そのままメールに乗る。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別ファイルにすると、送った時点でばらける。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4352544"/>
            <a:ext cx="3657600" cy="2037080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8576" y="46817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症例レベルの値は出さない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4" y="5221224"/>
            <a:ext cx="3072384" cy="98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既定では件数だけ。</a:t>
            </a: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仮名 ID でも症例を特定しうる</a:t>
            </a: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show_values=True を明示したときだけ出る。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6" y="4352544"/>
            <a:ext cx="3557016" cy="1795272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21624" y="4681728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図には必ず表を添える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14232" y="5221224"/>
            <a:ext cx="2971800" cy="743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色だけに頼らせない。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色覚特性のある読者でも同じ結論に届く。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演習②  0:35–1:00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機械の判断を検分する ―― ここが山場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19456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1645920"/>
            <a:ext cx="19385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列名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645920"/>
            <a:ext cx="201168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825496" y="1645920"/>
            <a:ext cx="175564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役割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1645920"/>
            <a:ext cx="91440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37176" y="1645920"/>
            <a:ext cx="6583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扱い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645920"/>
            <a:ext cx="6062472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751576" y="1645920"/>
            <a:ext cx="58064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判断の根拠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57984"/>
            <a:ext cx="219456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" y="2157984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仮名ID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2157984"/>
            <a:ext cx="201168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825496" y="2157984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157984"/>
            <a:ext cx="91440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37176" y="2157984"/>
            <a:ext cx="6583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drop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0" y="2157984"/>
            <a:ext cx="6062472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51576" y="2157984"/>
            <a:ext cx="5806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人が id_col として指定した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551176"/>
            <a:ext cx="219456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" y="2551176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施設コード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2551176"/>
            <a:ext cx="2011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825496" y="2551176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duplicate_of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60" y="2551176"/>
            <a:ext cx="91440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37176" y="2551176"/>
            <a:ext cx="6583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drop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0" y="2551176"/>
            <a:ext cx="6062472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51576" y="2551176"/>
            <a:ext cx="5806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'施設' と Cramér's V = 1.0000（実質同じ情報）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2944368"/>
            <a:ext cx="219456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" y="2944368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備考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2944368"/>
            <a:ext cx="201168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825496" y="2944368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high_cardinality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09160" y="2944368"/>
            <a:ext cx="91440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837176" y="2944368"/>
            <a:ext cx="6583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drop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2944368"/>
            <a:ext cx="6062472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751576" y="2944368"/>
            <a:ext cx="5806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ユニーク率 1.00 &gt; 0.90（ほぼ全行で異なる）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337560"/>
            <a:ext cx="219456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0936" y="3337560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検体採取日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97480" y="3337560"/>
            <a:ext cx="2011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825496" y="3337560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datetime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3337560"/>
            <a:ext cx="91440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37176" y="3337560"/>
            <a:ext cx="6583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keep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23560" y="3337560"/>
            <a:ext cx="6062472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51576" y="3337560"/>
            <a:ext cx="5806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100% の値を日付として解釈できた（並び: ymd）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730752"/>
            <a:ext cx="219456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0936" y="3730752"/>
            <a:ext cx="19385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CRP 定量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3730752"/>
            <a:ext cx="201168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825496" y="3730752"/>
            <a:ext cx="175564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numeric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09160" y="3730752"/>
            <a:ext cx="914400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837176" y="3730752"/>
            <a:ext cx="6583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keep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23560" y="3730752"/>
            <a:ext cx="6062472" cy="39319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51576" y="3730752"/>
            <a:ext cx="580644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記号・単位の除去で 100% が数値化できる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343400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4489704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reason の無い判断は作らない。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 推定できなかった列は unknown にして人に返す。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370576"/>
            <a:ext cx="5669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確かめること</a:t>
            </a:r>
          </a:p>
          <a:p>
            <a:pPr algn="l">
              <a:lnSpc>
                <a:spcPct val="132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drop になった列は、本当に捨ててよいか</a:t>
            </a:r>
          </a:p>
          <a:p>
            <a:pPr algn="l">
              <a:lnSpc>
                <a:spcPct val="132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numeric の列に、数値でないものが混ざっていないか</a:t>
            </a:r>
          </a:p>
          <a:p>
            <a:pPr algn="l">
              <a:lnSpc>
                <a:spcPct val="132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datetime の列が、日と月を取り違えていないか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5370576"/>
            <a:ext cx="5330952" cy="1032129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592824" y="5553456"/>
            <a:ext cx="4855464" cy="666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# 直したいときは編集して読み直す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sch = mp.Schema.from_yaml('schema.yaml')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見つけにくい汚れの代表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測定法の変更 ―― 検定でも例外でも捕まらない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2365248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2020 年 4 月  ALP の測定法が変わった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514600"/>
            <a:ext cx="4855464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JSCC 法 → IFCC 法。日本中の検査室で同時に切り替わった。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値はおよそ 1/3 になるが、患者の病態は何も変わっていない。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240 U/L だった人が 80 U/L と記録される。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2365248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見落とすとこうなる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「2020 年以降、当院の患者は ALP が下がった」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「新しい治療が奏効した」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→ </a:t>
            </a:r>
            <a:r>
              <a:rPr b="1" sz="15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存在しない所見が論文になる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30377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日付で切って中央値を比べて初めて見える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69536"/>
            <a:ext cx="7406640" cy="1632204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40664" y="4852416"/>
            <a:ext cx="6931152" cy="1266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steps = mp.method_change_steps(df, date_col='検体採取日')</a:t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✗ 致命的 'ALP' は 2020-04-01 の前後で中央値が 246 → 91</a:t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     （0.37 倍、p=4.2e-33、前 539 例 / 後 61 例）</a:t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# IFCC ≒ JSCC × 0.35 の近似換算は可。厳密換算は不可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669536"/>
            <a:ext cx="3593592" cy="1743456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85048" y="4998720"/>
            <a:ext cx="33192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他にもある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5538216"/>
            <a:ext cx="3008376" cy="691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Alb の BCG → BCP 改良法</a:t>
            </a:r>
          </a:p>
          <a:p>
            <a:pPr algn="l">
              <a:lnSpc>
                <a:spcPct val="125000"/>
              </a:lnSpc>
            </a:pPr>
            <a:r>
              <a:rPr b="1" sz="13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HbA1c の JDS → NGSP</a:t>
            </a:r>
          </a:p>
          <a:p>
            <a:pPr algn="l">
              <a:lnSpc>
                <a:spcPct val="125000"/>
              </a:lnSpc>
            </a:pPr>
            <a:r>
              <a:rPr b="1" sz="13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切替日が施設ごとに違うもの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59296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期間を共変量に入れるか、期間で層別すること。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演習③  1:00–1:25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欠損 ―― 「測っていない」ことが情報である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210616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なぜ 0 で埋めてはいけないか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514600"/>
            <a:ext cx="4855464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重症だから測った／軽症だから測らなかった、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という欠損は予後と結びついている。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黙って中央値で埋めると、</a:t>
            </a: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その情報を捨てたうえに分布を歪める</a:t>
            </a: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210616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7510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だから既定で指示変数を足す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2514600"/>
            <a:ext cx="4855464" cy="1054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「この値は欠けていた」という列を残す。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欠損そのものが予後因子でありうる</a:t>
            </a: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医学では珍しいことではない。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4469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欠損は偏っているか（MCAR 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410456"/>
            <a:ext cx="11183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欠損が完全にランダムなら、欠損フラグはどの列とも関連しないはずである。</a:t>
            </a:r>
          </a:p>
          <a:p>
            <a:pPr algn="l">
              <a:lnSpc>
                <a:spcPct val="13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関連があれば単純補完は分布を歪める。</a:t>
            </a: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どの列の欠損がどの列と結びついているかを名指しする。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004816"/>
            <a:ext cx="11183112" cy="1426464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0664" y="5187696"/>
            <a:ext cx="10707624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rep.mcar   # 欠損フラグと他の列の総当たり検定</a:t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欠損のある列     関連する列      p</a:t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アルブミン(Alb)   施設          2.1e-08</a:t>
            </a:r>
          </a:p>
          <a:p>
            <a:pPr algn="l">
              <a:lnSpc>
                <a:spcPct val="135000"/>
              </a:lnSpc>
            </a:pPr>
            <a:r>
              <a:rPr b="1" sz="12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補正Ca          アルブミン(Alb)  3.4e-31 ← Alb から計算される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演習③（続き）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外れ値 ―― 消してよい場合と消してはいけない場合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182880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1645920"/>
            <a:ext cx="15727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種類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645920"/>
            <a:ext cx="393192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459736" y="1645920"/>
            <a:ext cx="36758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4142232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91655" y="1645920"/>
            <a:ext cx="38862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扱い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05872" y="1645920"/>
            <a:ext cx="128016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33888" y="1645920"/>
            <a:ext cx="102412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判断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57984"/>
            <a:ext cx="1828800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" y="2157984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入力ミス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1720" y="2157984"/>
            <a:ext cx="3931920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459736" y="2157984"/>
            <a:ext cx="367588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Hb 0 g/dL、年齢 250 歳、体重 3.5 kg の成人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157984"/>
            <a:ext cx="4142232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91655" y="2157984"/>
            <a:ext cx="3886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生理学的にあり得ない。NaN にする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5872" y="2157984"/>
            <a:ext cx="1280160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33888" y="2157984"/>
            <a:ext cx="102412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辞書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51760"/>
            <a:ext cx="1828800" cy="4937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" y="2651760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本物の外れ値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2651760"/>
            <a:ext cx="3931920" cy="4937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459736" y="2651760"/>
            <a:ext cx="367588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Alb 1.8 g/dL、CRP 25 mg/dL、iPTH 2000 pg/mL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2651760"/>
            <a:ext cx="4142232" cy="4937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91655" y="2651760"/>
            <a:ext cx="3886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★消してはならない★　重要な症例でありうる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05872" y="2651760"/>
            <a:ext cx="1280160" cy="49377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533888" y="2651760"/>
            <a:ext cx="102412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残す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145536"/>
            <a:ext cx="1828800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" y="3145536"/>
            <a:ext cx="1572768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単位の取り違え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31720" y="3145536"/>
            <a:ext cx="3931920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459736" y="3145536"/>
            <a:ext cx="367588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Hb 108（g/L で記録）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145536"/>
            <a:ext cx="4142232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91655" y="3145536"/>
            <a:ext cx="388620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換算できる。換算したことを記録に残す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05872" y="3145536"/>
            <a:ext cx="1280160" cy="493776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533888" y="3145536"/>
            <a:ext cx="1024127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辞書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822192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3968496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この区別は統計では付かない。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 医学領域辞書（86 項目）が担う。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812792"/>
            <a:ext cx="5440680" cy="1553464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95528" y="5141976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medprep は外れ値を削除しない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" y="5681472"/>
            <a:ext cx="485546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既定は検出して報告するだけ。winsorize するときも、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閾値は train だけで決める</a:t>
            </a: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45352" y="4812792"/>
            <a:ext cx="5440680" cy="1553464"/>
          </a:xfrm>
          <a:prstGeom prst="roundRect">
            <a:avLst>
              <a:gd name="adj" fmla="val 6000"/>
            </a:avLst>
          </a:prstGeom>
          <a:solidFill>
            <a:srgbClr val="DF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537960" y="5141976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BAF7A"/>
                </a:solidFill>
                <a:latin typeface="Yu Gothic"/>
                <a:ea typeface="Yu Gothic"/>
                <a:cs typeface="Yu Gothic"/>
              </a:rPr>
              <a:t>医学では外れ値が主役のことがある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5681472"/>
            <a:ext cx="4855464" cy="501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劇症型、稀な合併症、想定外の反応。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外れ値を消すと、見たい症例が消える。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演習④  1:35–2:05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Table 1 ―― 検定は自動で選ぶ。ただし理由を必ず添える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14884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1645920"/>
            <a:ext cx="18928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1645920"/>
            <a:ext cx="393192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79776" y="1645920"/>
            <a:ext cx="36758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選ばれる検定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645920"/>
            <a:ext cx="173736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711696" y="1645920"/>
            <a:ext cx="148132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効果量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645920"/>
            <a:ext cx="3364992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49056" y="1645920"/>
            <a:ext cx="3108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選んだ理由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157984"/>
            <a:ext cx="214884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" y="2157984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2 群・正規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2157984"/>
            <a:ext cx="393192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779776" y="2157984"/>
            <a:ext cx="36758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Welch の t 検定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157984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711696" y="215798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Hedges' 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57984"/>
            <a:ext cx="3364992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9056" y="21579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等分散を仮定しない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615184"/>
            <a:ext cx="214884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" y="2615184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2 群・非正規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2615184"/>
            <a:ext cx="39319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79776" y="2615184"/>
            <a:ext cx="36758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Mann-Whitney U 検定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615184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11696" y="261518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Cliff's 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21040" y="2615184"/>
            <a:ext cx="3364992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449056" y="26151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歪度が大きい／外れ値がある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072384"/>
            <a:ext cx="214884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" y="3072384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3 群以上・正規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51760" y="3072384"/>
            <a:ext cx="393192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779776" y="3072384"/>
            <a:ext cx="36758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一元配置分散分析 ＋ Tukey HSD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072384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11696" y="307238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η²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072384"/>
            <a:ext cx="3364992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449056" y="30723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事後比較まで出す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29584"/>
            <a:ext cx="214884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0936" y="3529584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3 群以上・非正規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3529584"/>
            <a:ext cx="393192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2779776" y="3529584"/>
            <a:ext cx="36758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Kruskal-Wallis 検定 ＋ Dunn 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3529584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711696" y="352958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ε²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21040" y="3529584"/>
            <a:ext cx="3364992" cy="457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449056" y="35295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事後比較まで出す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986784"/>
            <a:ext cx="214884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0936" y="3986784"/>
            <a:ext cx="18928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カテゴリ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51760" y="3986784"/>
            <a:ext cx="393192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2779776" y="3986784"/>
            <a:ext cx="36758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χ² 検定／Fisher 正確検定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3986784"/>
            <a:ext cx="1737360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711696" y="3986784"/>
            <a:ext cx="14813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Cramér's V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21040" y="3986784"/>
            <a:ext cx="3364992" cy="457200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449056" y="39867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期待度数 5 未満なら Fisher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02920" y="4718304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4864608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検定名だけでなく「なぜそれを選んだか」を表に残す。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 査読で必ず聞かれる。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818632"/>
            <a:ext cx="1118311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多重比較の補正を忘れない</a:t>
            </a: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 ―― Table 1 は全列に p を出す。20 列あれば、帰無仮説がすべて正しくても 1 つは p&lt;0.05 になる。</a:t>
            </a:r>
          </a:p>
          <a:p>
            <a:pPr algn="l">
              <a:lnSpc>
                <a:spcPct val="14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medprep は Benjamini-Hochberg の q 値を必ず併記する。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演習④（続き）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群間の「偏り」は p ではなく SMD で見る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2788920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E03131"/>
                </a:solidFill>
                <a:latin typeface="Yu Gothic"/>
                <a:ea typeface="Yu Gothic"/>
                <a:cs typeface="Yu Gothic"/>
              </a:rPr>
              <a:t>p 値は例数で動く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1460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n=50 なら「差が無い」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n=5000 なら同じ差が「有意」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偏りの大きさは変わっていない。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変わったのは例数だけである。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27889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SMD は例数で動かない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46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標準化平均差（standardized mean difference）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|SMD| &lt; 0.1  → 釣り合っている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|SMD| ≧ 0.2  → 偏っている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RCT の基線表では p の掲載自体が推奨されない。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79"/>
            <a:ext cx="11183112" cy="106680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4901183"/>
            <a:ext cx="10634472" cy="774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train と test の比較も同じ。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 |SMD| ≧ 0.2 の列があれば、性能の差は「モデルの差」ではなく「分割の運」かもしれない。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22847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medprep は Table 1 にも、train/test のバランス表にも SMD を必ず併記する。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演習④（続き）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管理目標 ―― 開区間と閉区間で達成率が動く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JSDT の管理目標には、</a:t>
            </a:r>
            <a:r>
              <a:rPr b="1" sz="16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境界値を含むものと含まないものがある</a:t>
            </a:r>
            <a:r>
              <a:rPr b="1" sz="1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。`&lt;` と `&lt;=` の取り違えは、達成率を数 % 動かす。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66544"/>
            <a:ext cx="224028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" y="2066544"/>
            <a:ext cx="198424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66544"/>
            <a:ext cx="2971800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871216" y="2066544"/>
            <a:ext cx="271576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管理目標（正しい区間）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0" y="2066544"/>
            <a:ext cx="1874519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843016" y="2066544"/>
            <a:ext cx="16184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正しく開区間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066544"/>
            <a:ext cx="1874519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17536" y="2066544"/>
            <a:ext cx="161848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誤って閉区間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066544"/>
            <a:ext cx="2221992" cy="512064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92056" y="2066544"/>
            <a:ext cx="196596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578608"/>
            <a:ext cx="2240280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" y="2578608"/>
            <a:ext cx="1984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無機リン (P)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2578608"/>
            <a:ext cx="2971800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871216" y="2578608"/>
            <a:ext cx="2715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3.5 ≦ P &lt; 6.0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2578608"/>
            <a:ext cx="1874519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843016" y="2578608"/>
            <a:ext cx="161848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46.2%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78608"/>
            <a:ext cx="1874519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17536" y="2578608"/>
            <a:ext cx="161848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49.7%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2578608"/>
            <a:ext cx="2221992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92056" y="257860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+3.5%（21 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017520"/>
            <a:ext cx="224028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0936" y="3017520"/>
            <a:ext cx="1984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補正Ca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3017520"/>
            <a:ext cx="2971800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871216" y="3017520"/>
            <a:ext cx="2715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8.4 ≦ cCa &lt; 10.0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3017520"/>
            <a:ext cx="1874519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843016" y="3017520"/>
            <a:ext cx="161848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42.8%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89520" y="3017520"/>
            <a:ext cx="1874519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17536" y="3017520"/>
            <a:ext cx="161848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49.0%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3017520"/>
            <a:ext cx="2221992" cy="43891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592056" y="3017520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+6.2%（34 例）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456432"/>
            <a:ext cx="2240280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0936" y="3456432"/>
            <a:ext cx="198424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Hb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0" y="3456432"/>
            <a:ext cx="2971800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871216" y="3456432"/>
            <a:ext cx="271576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10 ≦ Hb &lt; 12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15000" y="3456432"/>
            <a:ext cx="1874519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843016" y="3456432"/>
            <a:ext cx="161848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59.0%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3456432"/>
            <a:ext cx="1874519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17536" y="3456432"/>
            <a:ext cx="1618487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61.8%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464040" y="3456432"/>
            <a:ext cx="2221992" cy="438912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592056" y="3456432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+2.8%（17 例）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4114800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4261104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補正Ca では達成率が 6.2 ポイント動く。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 論文の結論が変わる大きさである。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087111"/>
            <a:ext cx="5440680" cy="1311656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95528" y="5416296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なぜ間違えるのか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136" y="5955791"/>
            <a:ext cx="4855464" cy="260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四捨五入された値ほど、境界値ちょうどに集まる。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45352" y="5087111"/>
            <a:ext cx="5440680" cy="1311656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537960" y="5416296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medprep の扱い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5955791"/>
            <a:ext cx="4855464" cy="260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区間の開閉を辞書に持たせ、境界値の例数を出す。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演習⑤  2:05–2:35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生存時間 ―― 黙って減る n を見張る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184708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7510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4 列の日付から (duration, event) を作る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514600"/>
            <a:ext cx="4855464" cy="795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ID ／ 観察開始日 ／ イベント発生日 ／ 打ち切り日。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矛盾した症例は勝手に解釈しない。</a:t>
            </a:r>
          </a:p>
          <a:p>
            <a:pPr algn="l">
              <a:lnSpc>
                <a:spcPct val="125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除外して、理由を表に残す（今回は 600 → 578 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1847088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476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Cox は黙って症例を落とす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846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共変量に 1 つでも欠測があれば、その症例は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推定に入らない。578 例で始めたはずが</a:t>
            </a:r>
          </a:p>
          <a:p>
            <a:pPr algn="l">
              <a:lnSpc>
                <a:spcPct val="142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508 例で推定されている。</a:t>
            </a:r>
            <a:r>
              <a:rPr b="1" sz="15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どこにも表示されない。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785616"/>
            <a:ext cx="7223760" cy="1940814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" y="3968496"/>
            <a:ext cx="6748272" cy="15750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Cox 比例ハザード回帰  n = 508、イベント = 203、EPV = 33.8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欠測により除外: 70 例（うちイベント 24 件）  ← ★必ず報告する★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         HR    95%CI下限  95%CI上限        p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年齢     1.0384    1.0259    1.0511   0.0000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Alb      0.5192    0.3787    0.7118   0.0000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785616"/>
            <a:ext cx="3776472" cy="1795272"/>
          </a:xfrm>
          <a:prstGeom prst="roundRect">
            <a:avLst>
              <a:gd name="adj" fmla="val 6000"/>
            </a:avLst>
          </a:prstGeom>
          <a:solidFill>
            <a:srgbClr val="DF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02168" y="4114800"/>
            <a:ext cx="3502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BAF7A"/>
                </a:solidFill>
                <a:latin typeface="Yu Gothic"/>
                <a:ea typeface="Yu Gothic"/>
                <a:cs typeface="Yu Gothic"/>
              </a:rPr>
              <a:t>EPV を見る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4776" y="4654296"/>
            <a:ext cx="3191256" cy="743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イベント数 ÷ 共変量の数。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10 を下回れば推定が不安定</a:t>
            </a: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共変量を減らすか、例数を増やす。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27598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比例ハザード仮定は Schoenfeld 残差で検定する。有意なら層別化するか、比例ハザードを仮定しない RMST を使う。合成データなら真の係数と照合できる。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演習⑥  2:35–2:50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リークを構造的に不可能にする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5440680" cy="239572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95528" y="1901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E03131"/>
                </a:solidFill>
                <a:latin typeface="Yu Gothic"/>
                <a:ea typeface="Yu Gothic"/>
                <a:cs typeface="Yu Gothic"/>
              </a:rPr>
              <a:t>✗ よくある手順（リークする）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231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1. 欠損を全体の中央値で埋める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2. 全体でスケーリングする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3. get_dummies で全体を符号化する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4. </a:t>
            </a:r>
            <a:r>
              <a:rPr b="1" sz="15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それから</a:t>
            </a: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 train / test に分ける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→ test の情報が前処理に混ざっている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45920"/>
            <a:ext cx="5440680" cy="2395728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19019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8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✓ medprep の手順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423160"/>
            <a:ext cx="4846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1. </a:t>
            </a:r>
            <a:r>
              <a:rPr b="1" sz="15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先に</a:t>
            </a: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 train / test に分ける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2. train だけで fit する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3. test には transform しか当てない</a:t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/>
            </a:r>
          </a:p>
          <a:p>
            <a:pPr algn="l">
              <a:lnSpc>
                <a:spcPct val="138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→ test に fit しようとすると </a:t>
            </a:r>
            <a:r>
              <a:rPr b="1" sz="15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例外で止まる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206240"/>
            <a:ext cx="11183112" cy="2103691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0664" y="4389120"/>
            <a:ext cx="10707624" cy="1737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# ★通ったことの証拠として残せる表である★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mp.leak_check(rep.pipeline, rep.split.train, rep.split.test)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train/test の印        OK   train=train、test=test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fit に使った行          OK   train の行だけで fit している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目的変数が特徴量にないか  OK   目的変数 = 1年以内イベント</a:t>
            </a:r>
          </a:p>
          <a:p>
            <a:pPr algn="l">
              <a:lnSpc>
                <a:spcPct val="135000"/>
              </a:lnSpc>
            </a:pPr>
            <a:r>
              <a:rPr b="1" sz="125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  同じ患者が両側にないか   OK   重なりなし ← ★同一患者の複数行★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結果の保存と再現性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第1回・第2回で作った run{N} の規約をそのまま使う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7040880" cy="2163699"/>
          </a:xfrm>
          <a:prstGeom prst="roundRect">
            <a:avLst>
              <a:gd name="adj" fmla="val 3000"/>
            </a:avLst>
          </a:prstGeom>
          <a:solidFill>
            <a:srgbClr val="0E2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0664" y="1828800"/>
            <a:ext cx="6565392" cy="17979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~/lab_output/Preprocessing/run{N}/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├── table/   prep_tables.xlsx  table1.xlsx  run_info.json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├── figure/  01_欠損の地図.png … 10_バランス.png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├── model/   schema.yaml ★再現性の中核★  pipeline.pkl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└── report/  prep_report.html（単一ファイル）</a:t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35000"/>
              </a:lnSpc>
            </a:pPr>
            <a:r>
              <a:rPr b="1" sz="1300">
                <a:solidFill>
                  <a:srgbClr val="6BD5FF"/>
                </a:solidFill>
                <a:latin typeface="Consolas"/>
                <a:ea typeface="Consolas"/>
                <a:cs typeface="Consolas"/>
              </a:rPr>
              <a:t>~/lab_work/log/  history.csv（Excel でそのまま開ける）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645920"/>
            <a:ext cx="3959352" cy="2037080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019288" y="1975104"/>
            <a:ext cx="36850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過去の結果は上書きされない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11896" y="2514600"/>
            <a:ext cx="3374136" cy="98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table / model / figure が空でない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run は決して使い回さない。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Colab でランタイムが作り直されても、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ドライブの最大番号から続ける。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0222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再現に必要なもの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86275"/>
            <a:ext cx="3108960" cy="438912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" y="4486275"/>
            <a:ext cx="28529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ファイル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4486275"/>
            <a:ext cx="8074152" cy="438912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39896" y="4486275"/>
            <a:ext cx="7818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中身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925187"/>
            <a:ext cx="310896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0936" y="4925187"/>
            <a:ext cx="28529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model/schema.yaml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4925187"/>
            <a:ext cx="8074152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739896" y="4925187"/>
            <a:ext cx="78181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列の役割と、そう判断した理由。</a:t>
            </a: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これ 1 枚で前処理を再現できる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45811"/>
            <a:ext cx="3108960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0936" y="5345811"/>
            <a:ext cx="28529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model/pipeline.pkl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11880" y="5345811"/>
            <a:ext cx="8074152" cy="42062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739896" y="5345811"/>
            <a:ext cx="78181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fit 済みの前処理（sklearn 互換）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766435"/>
            <a:ext cx="3108960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0936" y="5766435"/>
            <a:ext cx="285292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log/history.csv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5766435"/>
            <a:ext cx="8074152" cy="420624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39896" y="5766435"/>
            <a:ext cx="78181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どのデータを、どのコードで、どう解析したかの一覧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333363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結果フォルダの根には毎回 .gitignore（全無視）を置く。run には個票由来の出力が集まるので、誤って git に載せる事故を防ぐ。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この回でいちばん持ち帰ってほしいこと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全自動にしてはいけないもの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931920" cy="402336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0936" y="1645920"/>
            <a:ext cx="367588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項目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7251192" cy="402336"/>
          </a:xfrm>
          <a:prstGeom prst="roundRect">
            <a:avLst>
              <a:gd name="adj" fmla="val 2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62855" y="1645920"/>
            <a:ext cx="69951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理由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48256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0936" y="2048256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外れ値の自動削除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48256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62855" y="2048256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医学では外れ値こそが重要な症例（劇症型・稀な合併症）でありうる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432304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0936" y="2432304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目的変数の補完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2432304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62855" y="2432304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補完した目的変数で学習した結果は解釈できない。除外し、除外数を報告する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816352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936" y="2816352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ステップワイズ変数選択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816352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62855" y="2816352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逐次選択は推定量に偏りを与え、信頼区間と p 値が無効になる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200400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" y="3200400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p 値による Table 1 の解釈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200400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62855" y="3200400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群間の偏りは p ではなく SMD で見る。p は例数で動く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584448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0936" y="3584448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多重比較の無補正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584448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62855" y="3584448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全列に p を出すので、BH の q 値を必ず併記する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68496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0936" y="3968496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PH 仮定違反時の Cox の黙認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3968496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3968496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Schoenfeld 検定が有意なら警告し、層別化か RMST を勧める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52544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30936" y="4352544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施設・時期をそのまま特徴量に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352544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62855" y="4352544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リークの温床。投入するかを人に問う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36592"/>
            <a:ext cx="3931920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0936" y="4736592"/>
            <a:ext cx="3675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欠損の指示変数を黙って落とす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34840" y="4736592"/>
            <a:ext cx="7251192" cy="3840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62855" y="4736592"/>
            <a:ext cx="699515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「測っていない」ことが予後情報である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321807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7240" y="5468112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このパッケージの値打ちは「何を自動化したか」と同じくらい、</a:t>
            </a: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「何を自動化しなかったか」で決まる。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257544"/>
            <a:ext cx="111831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いずれも警告を出して人に返す。自動で処理しない。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まとめ と この先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11183112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2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自分のデータで動かすところまでが第3回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6473952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b="1" sz="10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3657600" cy="2278888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95528" y="1920240"/>
            <a:ext cx="566928" cy="566928"/>
          </a:xfrm>
          <a:prstGeom prst="ellipse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6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今日やったこと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2514600"/>
            <a:ext cx="3072384" cy="1227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汚れを見つける手順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判断を記録に残す（schema.yaml）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リークを構造的に防ぐ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・ run{N} に結果を残す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645920"/>
            <a:ext cx="3657600" cy="2278888"/>
          </a:xfrm>
          <a:prstGeom prst="roundRect">
            <a:avLst>
              <a:gd name="adj" fmla="val 6000"/>
            </a:avLst>
          </a:prstGeom>
          <a:solidFill>
            <a:srgbClr val="F2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608576" y="197510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自分のデータで試す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1184" y="2514600"/>
            <a:ext cx="3072384" cy="1227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1. USE_DEMO_DATA = False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2. ID_COL / GROUP / DATE_COL を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　 書き換える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3. 上から実行する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1565C0"/>
                </a:solidFill>
                <a:latin typeface="Yu Gothic"/>
                <a:ea typeface="Yu Gothic"/>
                <a:cs typeface="Yu Gothic"/>
              </a:rPr>
              <a:t>同じコードが自分のデータでも動く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645920"/>
            <a:ext cx="3557016" cy="2037080"/>
          </a:xfrm>
          <a:prstGeom prst="roundRect">
            <a:avLst>
              <a:gd name="adj" fmla="val 6000"/>
            </a:avLst>
          </a:prstGeom>
          <a:solidFill>
            <a:srgbClr val="1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21624" y="1975104"/>
            <a:ext cx="32826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700">
                <a:solidFill>
                  <a:srgbClr val="00B0F0"/>
                </a:solidFill>
                <a:latin typeface="Yu Gothic"/>
                <a:ea typeface="Yu Gothic"/>
                <a:cs typeface="Yu Gothic"/>
              </a:rPr>
              <a:t>第4回以降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14232" y="2514600"/>
            <a:ext cx="2971800" cy="985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MICE（多重代入）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target encoding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競合リスク</a:t>
            </a:r>
          </a:p>
          <a:p>
            <a:pPr algn="l">
              <a:lnSpc>
                <a:spcPct val="125000"/>
              </a:lnSpc>
            </a:pPr>
            <a:r>
              <a:rPr b="1" sz="14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・ 時系列への接続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244848"/>
            <a:ext cx="11183112" cy="807720"/>
          </a:xfrm>
          <a:prstGeom prst="roundRect">
            <a:avLst>
              <a:gd name="adj" fmla="val 6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391152"/>
            <a:ext cx="10634472" cy="515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500">
                <a:solidFill>
                  <a:srgbClr val="CFE0F5"/>
                </a:solidFill>
                <a:latin typeface="Yu Gothic"/>
                <a:ea typeface="Yu Gothic"/>
                <a:cs typeface="Yu Gothic"/>
              </a:rPr>
              <a:t>持ち帰るべき原理は 1 つ ―― </a:t>
            </a:r>
            <a:r>
              <a:rPr b="1" sz="17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自動化できる部分と、医学的判断が必要な部分の境界を知ること。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345176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600">
                <a:solidFill>
                  <a:srgbClr val="13233F"/>
                </a:solidFill>
                <a:latin typeface="Yu Gothic"/>
                <a:ea typeface="Yu Gothic"/>
                <a:cs typeface="Yu Gothic"/>
              </a:rPr>
              <a:t>質問は、いつでも。うまくいかないところこそ、いちばん学びがあります。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66968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b="1" sz="1300">
                <a:solidFill>
                  <a:srgbClr val="5A6B84"/>
                </a:solidFill>
                <a:latin typeface="Yu Gothic"/>
                <a:ea typeface="Yu Gothic"/>
                <a:cs typeface="Yu Gothic"/>
              </a:rPr>
              <a:t>medprep  https://github.com/kiwindow/medprep    日本腎・血液浄化AI学会 学術委員会  2026年9月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